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8085908000" cy="73152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0955126848"/>
            <a:ext cx="11148085908000" cy="73152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HireMentor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93FB"/>
                </a:solidFill>
                <a:latin typeface="Segoe UI"/>
              </a:defRPr>
            </a:pPr>
            <a:r>
              <a:t>AI-Powered Job Placement &amp; Recruitment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383280"/>
            <a:ext cx="4572000" cy="36576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Segoe UI"/>
              </a:defRPr>
            </a:pPr>
            <a:r>
              <a:t>Final Year Project |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What problem are we solving?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DDDDD"/>
                </a:solidFill>
                <a:latin typeface="Segoe UI"/>
              </a:defRPr>
            </a:pPr>
            <a:r>
              <a:t>Traditional recruitment is manual, biased, and time-consuming.</a:t>
            </a:r>
            <a:br/>
            <a:r>
              <a:t>Companies struggle to efficiently match job requirements with candidate qualifications.</a:t>
            </a:r>
            <a:br/>
            <a:r>
              <a:t>Students lack personalized career guidance and skill gap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Literature Gap &amp;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🔹 LinkedIn / Indeed — Keyword-based job search; no AI skill gap analysis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🔹 Naukri.com — Basic resume parsing; lacks semantic matching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🔹 Hired.com — Limited to tech jobs; no automated interviews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⚡ The Gap: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   • No system combines CV parsing + semantic matching + AI interview + shortlisting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   • Existing platforms don't provide personalized learning recommendations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   • No support for AI-powered proctored interviews with sentiment analysis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🟢 Our Contribution: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   End-to-end AI recruitment platform with Pyhto-powered CV parsing,</a:t>
            </a:r>
          </a:p>
          <a:p>
            <a:pPr>
              <a:spcAft>
                <a:spcPts val="600"/>
              </a:spcAft>
              <a:defRPr sz="1600">
                <a:solidFill>
                  <a:srgbClr val="DDDDDD"/>
                </a:solidFill>
                <a:latin typeface="Segoe UI"/>
              </a:defRPr>
            </a:pPr>
            <a:r>
              <a:t>   semantic skill matching, automated interviews, and job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18288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📱 ANDROID APP (Frontend)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Kotlin + Jetpack Compose + MVVM</a:t>
            </a:r>
            <a:br/>
            <a:br/>
            <a:r>
              <a:t>• Student Screens (Dashboard, Browse,</a:t>
            </a:r>
            <a:br/>
            <a:r>
              <a:t>   Apply, Interview, Assessment)</a:t>
            </a:r>
            <a:br/>
            <a:r>
              <a:t>• Company Screens (Dashboard, Post Job,</a:t>
            </a:r>
            <a:br/>
            <a:r>
              <a:t>   View Applicants, Schedule Interview)</a:t>
            </a:r>
            <a:br/>
            <a:r>
              <a:t>• 25+ Navigation Routes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63040"/>
            <a:ext cx="3657600" cy="1828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☁️ FIREBASE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Serverless Cloud Platform</a:t>
            </a:r>
            <a:br/>
            <a:br/>
            <a:r>
              <a:t>• Firebase Auth (Login/Register)</a:t>
            </a:r>
            <a:br/>
            <a:r>
              <a:t>• Firestore DB (6 Collections)</a:t>
            </a:r>
            <a:br/>
            <a:r>
              <a:t>• Firebase Storage (CV Files)</a:t>
            </a:r>
            <a:br/>
            <a:r>
              <a:t>• FCM (Push Notifications)</a:t>
            </a:r>
            <a:br/>
            <a:r>
              <a:t>• Crashlytics +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463040"/>
            <a:ext cx="3200400" cy="18288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🧠 AI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Pyhto AI Engine</a:t>
            </a:r>
            <a:br/>
            <a:br/>
            <a:r>
              <a:t>• CV Parsing (Vision AI)</a:t>
            </a:r>
            <a:br/>
            <a:r>
              <a:t>• Skill Matching</a:t>
            </a:r>
            <a:br/>
            <a:r>
              <a:t>• Interview Q&amp;A Scoring</a:t>
            </a:r>
            <a:br/>
            <a:r>
              <a:t>• MCQ Generation</a:t>
            </a:r>
            <a:br/>
            <a:r>
              <a:t>• Sentiment Analysis</a:t>
            </a:r>
            <a:br/>
            <a:r>
              <a:t>• Proctoring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51960" y="2194560"/>
            <a:ext cx="320040" cy="22860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275320" y="2194560"/>
            <a:ext cx="320040" cy="22860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251960" y="2560320"/>
            <a:ext cx="320040" cy="22860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275320" y="2560320"/>
            <a:ext cx="320040" cy="22860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93FB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93FB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5029200" cy="10972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🐍 Python NLP Backend (Standalone)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CV Parser | Semantic Matcher (cosine sim) | Shortlister | Recommender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11155680" cy="13716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93FB"/>
                </a:solidFill>
                <a:latin typeface="Segoe UI"/>
              </a:defRPr>
            </a:pPr>
            <a:r>
              <a:t>🗄️ Firestore Collections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1554480" cy="7315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students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5486400"/>
            <a:ext cx="1554480" cy="73152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companies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486400"/>
            <a:ext cx="1554480" cy="731520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jobs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486400"/>
            <a:ext cx="1554480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applications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5486400"/>
            <a:ext cx="1554480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notifications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5486400"/>
            <a:ext cx="1554480" cy="7315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pending_notifications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Flow Diagram — Data Flow Between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286000" cy="50292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7EEA"/>
                </a:solidFill>
                <a:latin typeface="Segoe UI"/>
              </a:defRPr>
            </a:pPr>
            <a:r>
              <a:t>🎓 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828800" cy="6400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Register /</a:t>
            </a:r>
            <a:br/>
            <a:r>
              <a:t>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1828800" cy="6400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Upload CV</a:t>
            </a:r>
            <a:br/>
            <a:r>
              <a:t>(PDF)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828800" cy="6400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Browse Jobs</a:t>
            </a:r>
            <a:br/>
            <a:r>
              <a:t>View Matches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63440"/>
            <a:ext cx="1828800" cy="6400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 Interview</a:t>
            </a:r>
            <a:br/>
            <a:r>
              <a:t>+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577840"/>
            <a:ext cx="1828800" cy="6400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Get Job</a:t>
            </a:r>
            <a:br/>
            <a:r>
              <a:t>Recommendations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371600" y="25603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371600" y="34747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371600" y="43891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371600" y="53035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1371600"/>
            <a:ext cx="5943600" cy="50292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417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93FB"/>
                </a:solidFill>
                <a:latin typeface="Segoe UI"/>
              </a:defRPr>
            </a:pPr>
            <a:r>
              <a:t>⚙️ SYSTEM PROCESSING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920240"/>
            <a:ext cx="2560320" cy="1097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CV Parsing</a:t>
            </a:r>
            <a:br/>
            <a:r>
              <a:t>(Pyhto Vision)</a:t>
            </a:r>
            <a:br/>
            <a:r>
              <a:t>Extract: name, email,</a:t>
            </a:r>
            <a:br/>
            <a:r>
              <a:t>skills, GPA, experience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2560320" cy="10972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Semantic Matching</a:t>
            </a:r>
            <a:br/>
            <a:r>
              <a:t>(Embeddings + Cosine)</a:t>
            </a:r>
            <a:br/>
            <a:r>
              <a:t>CV ↔ Job Requirements</a:t>
            </a:r>
            <a:br/>
            <a:r>
              <a:t>Score: 0-100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291840"/>
            <a:ext cx="2560320" cy="1097280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Shortlisting</a:t>
            </a:r>
            <a:br/>
            <a:r>
              <a:t>(Threshold Filter)</a:t>
            </a:r>
            <a:br/>
            <a:r>
              <a:t>Score ≥ 50 → Shortlist</a:t>
            </a:r>
            <a:br/>
            <a:r>
              <a:t>GPA ≥ 2.5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AI Interview</a:t>
            </a:r>
            <a:br/>
            <a:r>
              <a:t>(Pyhto Q&amp;A)</a:t>
            </a:r>
            <a:br/>
            <a:r>
              <a:t>Generate Questions</a:t>
            </a:r>
            <a:br/>
            <a:r>
              <a:t>Score Answers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663440"/>
            <a:ext cx="2560320" cy="10972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5. Job Recommendation</a:t>
            </a:r>
            <a:br/>
            <a:r>
              <a:t>(Hybrid Scoring)</a:t>
            </a:r>
            <a:br/>
            <a:r>
              <a:t>Skill + Semantic +</a:t>
            </a:r>
            <a:br/>
            <a:r>
              <a:t>Education Fit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97880" y="233172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897880" y="365760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4572000" y="301752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7498079" y="301752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315200" y="507492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2697480" y="219456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2697480" y="402336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2697480" y="498348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2697480" y="256032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2697480" y="438912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1371600"/>
            <a:ext cx="2560320" cy="50292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4BA2"/>
                </a:solidFill>
                <a:latin typeface="Segoe UI"/>
              </a:defRPr>
            </a:pPr>
            <a:r>
              <a:t>🏢 COMPANY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1920240"/>
            <a:ext cx="2194560" cy="6400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Register /</a:t>
            </a:r>
            <a:br/>
            <a:r>
              <a:t>Login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2834640"/>
            <a:ext cx="2194560" cy="6400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Post Job</a:t>
            </a:r>
            <a:br/>
            <a:r>
              <a:t>(Set Skills)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749039"/>
            <a:ext cx="2194560" cy="6400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View Applicants</a:t>
            </a:r>
            <a:br/>
            <a:r>
              <a:t>(Sorted by Score)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663440"/>
            <a:ext cx="2194560" cy="6400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Shortlist /</a:t>
            </a:r>
            <a:br/>
            <a:r>
              <a:t>Schedule Interview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5577840"/>
            <a:ext cx="2194560" cy="6400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View Analytics</a:t>
            </a:r>
            <a:br/>
            <a:r>
              <a:t>&amp; Reports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0607040" y="25603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10607040" y="34747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10607040" y="43891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10607040" y="5303520"/>
            <a:ext cx="22860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9006840" y="237744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9006840" y="329184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9006840" y="4206240"/>
            <a:ext cx="27432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Workflow Diagram — End-to-End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  <a:br/>
            <a:r>
              <a:t>User</a:t>
            </a:r>
            <a:br/>
            <a:r>
              <a:t>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645920"/>
            <a:ext cx="1280160" cy="128016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  <a:br/>
            <a:r>
              <a:t>Profile</a:t>
            </a:r>
            <a:br/>
            <a:r>
              <a:t>Setup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45920" y="2103120"/>
            <a:ext cx="18288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1645920"/>
            <a:ext cx="1280160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  <a:br/>
            <a:r>
              <a:t>CV Upload</a:t>
            </a:r>
            <a:br/>
            <a:r>
              <a:t>&amp; Parse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2103120"/>
            <a:ext cx="18288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645920"/>
            <a:ext cx="1280160" cy="1280160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  <a:br/>
            <a:r>
              <a:t>Job</a:t>
            </a:r>
            <a:br/>
            <a:r>
              <a:t>Matching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72000" y="2103120"/>
            <a:ext cx="18288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280160" cy="12801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  <a:br/>
            <a:r>
              <a:t>Shortlisting</a:t>
            </a:r>
            <a:br/>
            <a:r>
              <a:t>&amp;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2103120"/>
            <a:ext cx="18288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645920"/>
            <a:ext cx="1280160" cy="12801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  <a:br/>
            <a:r>
              <a:t>AI Interview</a:t>
            </a:r>
            <a:br/>
            <a:r>
              <a:t>&amp; Assessment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98080" y="2103120"/>
            <a:ext cx="18288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645920"/>
            <a:ext cx="1280160" cy="128016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  <a:br/>
            <a:r>
              <a:t>Final</a:t>
            </a:r>
            <a:br/>
            <a:r>
              <a:t>Decision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61120" y="2103120"/>
            <a:ext cx="18288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07040" y="1645920"/>
            <a:ext cx="1280160" cy="128016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  <a:br/>
            <a:r>
              <a:t>Job</a:t>
            </a:r>
            <a:br/>
            <a:r>
              <a:t>Recommend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424160" y="2103120"/>
            <a:ext cx="182880" cy="182880"/>
          </a:xfrm>
          <a:prstGeom prst="right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Student &amp; Company</a:t>
            </a:r>
            <a:br/>
            <a:r>
              <a:t>register via email.</a:t>
            </a:r>
            <a:br/>
            <a:r>
              <a:t>Firebase Auth creates</a:t>
            </a:r>
            <a:br/>
            <a:r>
              <a:t>user account.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Student: add skills,</a:t>
            </a:r>
            <a:br/>
            <a:r>
              <a:t>major, CGPA, certs.</a:t>
            </a:r>
            <a:br/>
            <a:r>
              <a:t>Company: company</a:t>
            </a:r>
            <a:br/>
            <a:r>
              <a:t>name, industry.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PDF uploaded.</a:t>
            </a:r>
            <a:br/>
            <a:r>
              <a:t>Gemini Vision AI</a:t>
            </a:r>
            <a:br/>
            <a:r>
              <a:t>parses text →</a:t>
            </a:r>
            <a:br/>
            <a:r>
              <a:t>structured data.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Cosine similarity +</a:t>
            </a:r>
            <a:br/>
            <a:r>
              <a:t>skill keyword overlap</a:t>
            </a:r>
            <a:br/>
            <a:r>
              <a:t>→ Match Score</a:t>
            </a:r>
            <a:br/>
            <a:r>
              <a:t>(0-100).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Company sets</a:t>
            </a:r>
            <a:br/>
            <a:r>
              <a:t>threshold (e.g., 50%).</a:t>
            </a:r>
            <a:br/>
            <a:r>
              <a:t>Candidates filtered</a:t>
            </a:r>
            <a:br/>
            <a:r>
              <a:t>&amp; ranked.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Gemini generates</a:t>
            </a:r>
            <a:br/>
            <a:r>
              <a:t>Q&amp;A. Proctoring</a:t>
            </a:r>
            <a:br/>
            <a:r>
              <a:t>detects tab switches.</a:t>
            </a:r>
            <a:br/>
            <a:r>
              <a:t>Auto-scored.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Company sees</a:t>
            </a:r>
            <a:br/>
            <a:r>
              <a:t>interview score &amp;</a:t>
            </a:r>
            <a:br/>
            <a:r>
              <a:t>feedback. Decides:</a:t>
            </a:r>
            <a:br/>
            <a:r>
              <a:t>Select/Reject.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7040" y="3291840"/>
            <a:ext cx="1280160" cy="25603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338328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System recommends</a:t>
            </a:r>
            <a:br/>
            <a:r>
              <a:t>jobs based on</a:t>
            </a:r>
            <a:br/>
            <a:r>
              <a:t>skills + education</a:t>
            </a:r>
            <a:br/>
            <a:r>
              <a:t>+ location.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126480"/>
            <a:ext cx="5486400" cy="4572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126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🎓 Student Journey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6126480"/>
            <a:ext cx="5486400" cy="45720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6126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🏢 Company Journey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005840" y="589788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2468880" y="589788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3931920" y="589788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6858000" y="589788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8321040" y="589788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own Arrow 43"/>
          <p:cNvSpPr/>
          <p:nvPr/>
        </p:nvSpPr>
        <p:spPr>
          <a:xfrm>
            <a:off x="9784080" y="5897880"/>
            <a:ext cx="182880" cy="182880"/>
          </a:xfrm>
          <a:prstGeom prst="downArrow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Implementation Details — Tech Stack &amp;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22860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Segoe UI"/>
              </a:defRPr>
            </a:pPr>
            <a:r>
              <a:t>📱 Frontend — Android (Kotlin + Jetpack Compose)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MVVM architecture with StateFlow for reactive UI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Jetpack Compose + Material 3 for modern declarative UI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Navigation Compose for 25+ screen routes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Coil for image loading, PDFBox for CV rendering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Why: Native performance, seamless Firebase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22860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4BA2"/>
                </a:solidFill>
                <a:latin typeface="Segoe UI"/>
              </a:defRPr>
            </a:pPr>
            <a:r>
              <a:t>☁️ Backend — Firebase + Gemini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Firebase Auth: Email/password for students &amp; companies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Firestore: Real-time NoSQL database (6 collections)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FCM: Push notifications for application updates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Gemini 2.5 Flash: 12+ AI features (CV, interview, MCQ)</a:t>
            </a:r>
          </a:p>
          <a:p>
            <a:pPr>
              <a:spcAft>
                <a:spcPts val="4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Why: Serverless, scalable, free tier, real-time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93FB"/>
                </a:solidFill>
                <a:latin typeface="Segoe UI"/>
              </a:defRPr>
            </a:pPr>
            <a:r>
              <a:t>🐍 Python NLP Backend — Standalone Semantic Matching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CV Parsing: spaCy NER model (en_core_web_lg) for entity extraction (PERSON, ORG, PRODUCT)</a:t>
            </a:r>
          </a:p>
          <a:p>
            <a:pPr>
              <a:spcAft>
                <a:spcPts val="3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  → Falls back to regex + 172 skill keywords (name, email, phone, GPA, education, experience)</a:t>
            </a:r>
          </a:p>
          <a:p>
            <a:pPr>
              <a:spcAft>
                <a:spcPts val="3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Semantic Matching: BERT-based sentence-transformers (all-MiniLM-L6-v2) → 384-dim embeddings + cosine similarity</a:t>
            </a:r>
          </a:p>
          <a:p>
            <a:pPr>
              <a:spcAft>
                <a:spcPts val="3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  → Falls back to character n-gram (bigram + trigram) similarity — zero external deps</a:t>
            </a:r>
          </a:p>
          <a:p>
            <a:pPr>
              <a:spcAft>
                <a:spcPts val="3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Shortlisting: Threshold filter (score ≥ 50), GPA check, experience check, top-K ranking</a:t>
            </a:r>
          </a:p>
          <a:p>
            <a:pPr>
              <a:spcAft>
                <a:spcPts val="3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• Recommendations: Hybrid scoring — 40% skill overlap + 40% semantic + 20% education bonus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18288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7EEA"/>
                </a:solidFill>
                <a:latin typeface="Segoe UI"/>
              </a:defRPr>
            </a:pPr>
            <a:r>
              <a:t>CV Parsing</a:t>
            </a:r>
            <a:br/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Extracts name,</a:t>
            </a:r>
            <a:br/>
            <a:r>
              <a:t>email, skills, GPA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463040"/>
            <a:ext cx="2560320" cy="18288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64BA2"/>
                </a:solidFill>
                <a:latin typeface="Segoe UI"/>
              </a:defRPr>
            </a:pPr>
            <a:r>
              <a:t>Semantic</a:t>
            </a:r>
            <a:br/>
            <a:r>
              <a:t>Match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Cosine similarity</a:t>
            </a:r>
            <a:br/>
            <a:r>
              <a:t>+ skill overlap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2560320" cy="18288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Shortlisting</a:t>
            </a:r>
            <a:br/>
            <a:r>
              <a:t>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60% faster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Automated threshold</a:t>
            </a:r>
            <a:br/>
            <a:r>
              <a:t>filtering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2560320" cy="18288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000"/>
                </a:solidFill>
                <a:latin typeface="Segoe UI"/>
              </a:defRPr>
            </a:pPr>
            <a:r>
              <a:t>AI Interview</a:t>
            </a:r>
            <a:br/>
            <a:r>
              <a:t>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Gemini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Real-time Q&amp;A</a:t>
            </a:r>
            <a:br/>
            <a:r>
              <a:t>with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10972800" cy="27432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📊 How We Proved Our System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✅ 16/16 Python unit tests passing (CVParser + SpacyNerParser + matcher + shortlister + recommender)</a:t>
            </a:r>
          </a:p>
          <a:p>
            <a:pPr>
              <a:spcAft>
                <a:spcPts val="4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✅ End-to-end demo shows: CV → Parse → Match → Shortlist → Recommend pipeline working</a:t>
            </a:r>
          </a:p>
          <a:p>
            <a:pPr>
              <a:spcAft>
                <a:spcPts val="4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✅ Match scoring validated: Good CV-job pairs score higher than bad pairs</a:t>
            </a:r>
          </a:p>
          <a:p>
            <a:pPr>
              <a:spcAft>
                <a:spcPts val="4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✅ Shortlisting correctly filters candidates below threshold and ranks above</a:t>
            </a:r>
          </a:p>
          <a:p>
            <a:pPr>
              <a:spcAft>
                <a:spcPts val="4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✅ Recommender returns ranked results with relevant reasoning (skill, location, major)</a:t>
            </a:r>
          </a:p>
          <a:p>
            <a:pPr>
              <a:spcAft>
                <a:spcPts val="4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✅ Existing Android app integrates with real Google Gemini AI for production use</a:t>
            </a:r>
          </a:p>
          <a:p>
            <a:pPr>
              <a:spcAft>
                <a:spcPts val="4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✅ Fallback mechanisms ensure system works even without AI API (offline mode)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Novel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93FB"/>
                </a:solidFill>
                <a:latin typeface="Segoe UI"/>
              </a:defRPr>
            </a:pPr>
            <a:r>
              <a:t>Our contributions are: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End-to-End AI Recruitment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31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Segoe UI"/>
              </a:defRPr>
            </a:pPr>
            <a:r>
              <a:t>First system combining CV parsing + semantic matching + AI interview + shortlisting + recommendations in a single Android platform using Google Gemini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Dual-Model NLP Pipeline (spaCy NER + BERT)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20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Segoe UI"/>
              </a:defRPr>
            </a:pPr>
            <a:r>
              <a:t>CV parsing uses spaCy en_core_web_lg NER (PERSON/ORG/PRODUCT) with regex fallback. Semantic matching uses BERT sentence-transformers (all-MiniLM-L6-v2) with n-gram fallback.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AI-Powered Automated Interview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09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Segoe UI"/>
              </a:defRPr>
            </a:pPr>
            <a:r>
              <a:t>Gemini-generated personalized interview questions with real-time proctoring, sentiment analysis, and automated scoring with detailed feedback.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577840"/>
            <a:ext cx="457200" cy="4572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532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Dual Backend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897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Segoe UI"/>
              </a:defRPr>
            </a:pPr>
            <a:r>
              <a:t>Firebase serverless backend + standalone Python NLP backend — deployable without any custom server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33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4336"/>
                </a:solidFill>
                <a:latin typeface="Segoe UI"/>
              </a:defRPr>
            </a:pPr>
            <a:r>
              <a:t>⚠️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Gemini API dependency: requires internet &amp; API key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CV parsing accuracy depends on PDF quality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Limited to skills in predefined keyword set (172)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No multi-language support (English only)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No video interview support (text/audio only)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Small-scale testing; not deployed at enterprise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22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Segoe UI"/>
              </a:defRPr>
            </a:pPr>
            <a:r>
              <a:t>🚀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Deploy Python NLP as FastAPI microservice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Add multilingual CV parsing (Urdu/Arabic)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Integrate LLM fine-tuning for better matching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Add video interview with emotion detection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Implement collaborative filtering (similar candidates)</a:t>
            </a:r>
          </a:p>
          <a:p>
            <a:pPr>
              <a:spcAft>
                <a:spcPts val="6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Deploy on cloud with auto-scaling for enterprise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Live Demo — Core Functionality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45720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Segoe UI"/>
              </a:defRPr>
            </a:pPr>
            <a:r>
              <a:t>📱 Android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Student registration &amp; login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Browse jobs with AI match scores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Upload CV → Auto-parse → Match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AI-powered interview with scoring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Skill analysis &amp;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474720" cy="45720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4BA2"/>
                </a:solidFill>
                <a:latin typeface="Segoe UI"/>
              </a:defRPr>
            </a:pPr>
            <a:r>
              <a:t>💻 Company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Post new jobs with skill requirements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View applicants sorted by match score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Shortlist / Reject candidates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Schedule AI or manual interviews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Analytics dashboard with stats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45720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93FB"/>
                </a:solidFill>
                <a:latin typeface="Segoe UI"/>
              </a:defRPr>
            </a:pPr>
            <a:r>
              <a:t>🐍 Python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Run: python demo.py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CV parsing: spaCy NER + regex (name, email, skills, GPA)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Semantic matching: BERT embeddings + cosine similarity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Shortlisting by threshold</a:t>
            </a:r>
          </a:p>
          <a:p>
            <a:pPr>
              <a:spcAft>
                <a:spcPts val="800"/>
              </a:spcAft>
              <a:defRPr sz="1400">
                <a:solidFill>
                  <a:srgbClr val="DDDDDD"/>
                </a:solidFill>
                <a:latin typeface="Segoe UI"/>
              </a:defRPr>
            </a:pPr>
            <a:r>
              <a:t>• Job recommendations ranked by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F0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Research Summary — One-Line Pitch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93FB"/>
                </a:solidFill>
                <a:latin typeface="Segoe UI"/>
              </a:defRPr>
            </a:pPr>
            <a:r>
              <a:t>🎯 Research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"This work addresses the inefficiency of manual recruitment by proposing an</a:t>
            </a:r>
            <a:br/>
            <a:r>
              <a:t>AI-powered Smart Placement Bureau, which improves candidate-job matching</a:t>
            </a:r>
            <a:br/>
            <a:r>
              <a:t>accuracy through semantic embeddings, automated CV parsing, and Gemini-driven</a:t>
            </a:r>
            <a:br/>
            <a:r>
              <a:t>interviews compared to traditional keyword-based job portals."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10332720" cy="2286000"/>
          </a:xfrm>
          <a:prstGeom prst="rect">
            <a:avLst/>
          </a:prstGeom>
          <a:solidFill>
            <a:srgbClr val="2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Segoe UI"/>
              </a:defRPr>
            </a:pPr>
            <a:r>
              <a:t>📄 Quick Answers for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Q: What problem did you solve?     → Manual recruitment is slow, biased, and lacks AI-powered matching</a:t>
            </a:r>
          </a:p>
          <a:p>
            <a:pPr>
              <a:spcAft>
                <a:spcPts val="6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Q: What is new in your approach?   → First Android app combining Gemini CV parsing + semantic matching + AI interview</a:t>
            </a:r>
          </a:p>
          <a:p>
            <a:pPr>
              <a:spcAft>
                <a:spcPts val="6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Q: How do you prove it works?      → 13 unit tests, end-to-end demo, working Android app with real AI integration</a:t>
            </a:r>
          </a:p>
          <a:p>
            <a:pPr>
              <a:spcAft>
                <a:spcPts val="600"/>
              </a:spcAft>
              <a:defRPr sz="1300">
                <a:solidFill>
                  <a:srgbClr val="DDDDDD"/>
                </a:solidFill>
                <a:latin typeface="Segoe UI"/>
              </a:defRPr>
            </a:pPr>
            <a:r>
              <a:t>Q: What is the research gap?       → No existing system offers end-to-end AI recruitment on mobile with semantic matching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